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9" r:id="rId8"/>
    <p:sldId id="272" r:id="rId9"/>
    <p:sldId id="273" r:id="rId10"/>
    <p:sldId id="274" r:id="rId11"/>
    <p:sldId id="264" r:id="rId12"/>
    <p:sldId id="275" r:id="rId13"/>
    <p:sldId id="276" r:id="rId14"/>
    <p:sldId id="279" r:id="rId15"/>
    <p:sldId id="277" r:id="rId16"/>
    <p:sldId id="278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068" y="426"/>
      </p:cViewPr>
      <p:guideLst>
        <p:guide orient="horz" pos="2156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134D117-4BC8-4909-B9C0-71C28BACE70D}" type="datetime1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22A93AF5-45C4-4C27-A3F4-0C3BADBBCA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614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93AF5-45C4-4C27-A3F4-0C3BADBBCA9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532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93AF5-45C4-4C27-A3F4-0C3BADBBCA9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90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93AF5-45C4-4C27-A3F4-0C3BADBBCA9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730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93AF5-45C4-4C27-A3F4-0C3BADBBCA9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647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93AF5-45C4-4C27-A3F4-0C3BADBBCA9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266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A93AF5-45C4-4C27-A3F4-0C3BADBBCA9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04534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3.png"  /><Relationship Id="rId11" Type="http://schemas.openxmlformats.org/officeDocument/2006/relationships/image" Target="../media/image14.png"  /><Relationship Id="rId12" Type="http://schemas.openxmlformats.org/officeDocument/2006/relationships/image" Target="../media/image15.png"  /><Relationship Id="rId13" Type="http://schemas.openxmlformats.org/officeDocument/2006/relationships/image" Target="../media/image16.png"  /><Relationship Id="rId14" Type="http://schemas.openxmlformats.org/officeDocument/2006/relationships/image" Target="../media/image17.png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5.png"  /><Relationship Id="rId2" Type="http://schemas.openxmlformats.org/officeDocument/2006/relationships/image" Target="../media/image5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Relationship Id="rId8" Type="http://schemas.openxmlformats.org/officeDocument/2006/relationships/image" Target="../media/image23.png"  /><Relationship Id="rId9" Type="http://schemas.openxmlformats.org/officeDocument/2006/relationships/image" Target="../media/image2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2.png"  /><Relationship Id="rId11" Type="http://schemas.openxmlformats.org/officeDocument/2006/relationships/image" Target="../media/image32.png"  /><Relationship Id="rId12" Type="http://schemas.openxmlformats.org/officeDocument/2006/relationships/image" Target="../media/image32.png"  /><Relationship Id="rId13" Type="http://schemas.openxmlformats.org/officeDocument/2006/relationships/image" Target="../media/image33.png"  /><Relationship Id="rId14" Type="http://schemas.openxmlformats.org/officeDocument/2006/relationships/image" Target="../media/image34.png"  /><Relationship Id="rId15" Type="http://schemas.openxmlformats.org/officeDocument/2006/relationships/image" Target="../media/image35.png"  /><Relationship Id="rId16" Type="http://schemas.openxmlformats.org/officeDocument/2006/relationships/image" Target="../media/image36.png"  /><Relationship Id="rId17" Type="http://schemas.openxmlformats.org/officeDocument/2006/relationships/image" Target="../media/image37.png"  /><Relationship Id="rId18" Type="http://schemas.openxmlformats.org/officeDocument/2006/relationships/image" Target="../media/image38.png"  /><Relationship Id="rId19" Type="http://schemas.openxmlformats.org/officeDocument/2006/relationships/image" Target="../media/image39.png"  /><Relationship Id="rId2" Type="http://schemas.openxmlformats.org/officeDocument/2006/relationships/image" Target="../media/image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Relationship Id="rId5" Type="http://schemas.openxmlformats.org/officeDocument/2006/relationships/image" Target="../media/image28.png"  /><Relationship Id="rId6" Type="http://schemas.openxmlformats.org/officeDocument/2006/relationships/image" Target="../media/image29.png"  /><Relationship Id="rId7" Type="http://schemas.openxmlformats.org/officeDocument/2006/relationships/image" Target="../media/image30.png"  /><Relationship Id="rId8" Type="http://schemas.openxmlformats.org/officeDocument/2006/relationships/image" Target="../media/image30.png"  /><Relationship Id="rId9" Type="http://schemas.openxmlformats.org/officeDocument/2006/relationships/image" Target="../media/image3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46.png"  /><Relationship Id="rId9" Type="http://schemas.openxmlformats.org/officeDocument/2006/relationships/image" Target="../media/image4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48.png"  /><Relationship Id="rId9" Type="http://schemas.openxmlformats.org/officeDocument/2006/relationships/image" Target="../media/image4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5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Relationship Id="rId3" Type="http://schemas.openxmlformats.org/officeDocument/2006/relationships/image" Target="../media/image41.png"  /><Relationship Id="rId4" Type="http://schemas.openxmlformats.org/officeDocument/2006/relationships/image" Target="../media/image42.png"  /><Relationship Id="rId5" Type="http://schemas.openxmlformats.org/officeDocument/2006/relationships/image" Target="../media/image43.png"  /><Relationship Id="rId6" Type="http://schemas.openxmlformats.org/officeDocument/2006/relationships/image" Target="../media/image44.png"  /><Relationship Id="rId7" Type="http://schemas.openxmlformats.org/officeDocument/2006/relationships/image" Target="../media/image45.png"  /><Relationship Id="rId8" Type="http://schemas.openxmlformats.org/officeDocument/2006/relationships/image" Target="../media/image5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60.png"  /><Relationship Id="rId11" Type="http://schemas.openxmlformats.org/officeDocument/2006/relationships/image" Target="../media/image61.png"  /><Relationship Id="rId12" Type="http://schemas.openxmlformats.org/officeDocument/2006/relationships/image" Target="../media/image62.pn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Relationship Id="rId4" Type="http://schemas.openxmlformats.org/officeDocument/2006/relationships/image" Target="../media/image54.png"  /><Relationship Id="rId5" Type="http://schemas.openxmlformats.org/officeDocument/2006/relationships/image" Target="../media/image55.png"  /><Relationship Id="rId6" Type="http://schemas.openxmlformats.org/officeDocument/2006/relationships/image" Target="../media/image56.png"  /><Relationship Id="rId7" Type="http://schemas.openxmlformats.org/officeDocument/2006/relationships/image" Target="../media/image57.png"  /><Relationship Id="rId8" Type="http://schemas.openxmlformats.org/officeDocument/2006/relationships/image" Target="../media/image58.png"  /><Relationship Id="rId9" Type="http://schemas.openxmlformats.org/officeDocument/2006/relationships/image" Target="../media/image5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5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Relationship Id="rId6" Type="http://schemas.openxmlformats.org/officeDocument/2006/relationships/image" Target="../media/image6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5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Relationship Id="rId6" Type="http://schemas.openxmlformats.org/officeDocument/2006/relationships/image" Target="../media/image64.png"  /><Relationship Id="rId7" Type="http://schemas.openxmlformats.org/officeDocument/2006/relationships/image" Target="../media/image6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5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Relationship Id="rId6" Type="http://schemas.openxmlformats.org/officeDocument/2006/relationships/image" Target="../media/image6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5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Relationship Id="rId6" Type="http://schemas.openxmlformats.org/officeDocument/2006/relationships/image" Target="../media/image67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5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Relationship Id="rId6" Type="http://schemas.openxmlformats.org/officeDocument/2006/relationships/image" Target="../media/image6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6.png"  /><Relationship Id="rId2" Type="http://schemas.openxmlformats.org/officeDocument/2006/relationships/image" Target="../media/image5.png"  /><Relationship Id="rId3" Type="http://schemas.openxmlformats.org/officeDocument/2006/relationships/image" Target="../media/image69.png"  /><Relationship Id="rId4" Type="http://schemas.openxmlformats.org/officeDocument/2006/relationships/image" Target="../media/image70.png"  /><Relationship Id="rId5" Type="http://schemas.openxmlformats.org/officeDocument/2006/relationships/image" Target="../media/image71.png"  /><Relationship Id="rId6" Type="http://schemas.openxmlformats.org/officeDocument/2006/relationships/image" Target="../media/image72.png"  /><Relationship Id="rId7" Type="http://schemas.openxmlformats.org/officeDocument/2006/relationships/image" Target="../media/image73.png"  /><Relationship Id="rId8" Type="http://schemas.openxmlformats.org/officeDocument/2006/relationships/image" Target="../media/image74.png"  /><Relationship Id="rId9" Type="http://schemas.openxmlformats.org/officeDocument/2006/relationships/image" Target="../media/image7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7.png"  /><Relationship Id="rId3" Type="http://schemas.openxmlformats.org/officeDocument/2006/relationships/image" Target="../media/image78.png"  /><Relationship Id="rId4" Type="http://schemas.openxmlformats.org/officeDocument/2006/relationships/image" Target="../media/image79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71650"/>
            <a:ext cx="2288530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457700"/>
            <a:ext cx="10477500" cy="628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343150"/>
            <a:ext cx="5802287" cy="12382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900" b="0" i="0" u="none">
                <a:solidFill>
                  <a:srgbClr val="FFFFFF"/>
                </a:solidFill>
                <a:latin typeface="Noto Sans KR Black"/>
              </a:rPr>
              <a:t>EV 배터리 열폭주 감지 및</a:t>
            </a:r>
            <a:r>
              <a:t>
</a:t>
            </a:r>
            <a:r>
              <a:rPr sz="3900" b="0" i="0" u="none">
                <a:solidFill>
                  <a:srgbClr val="38BDF8"/>
                </a:solidFill>
                <a:latin typeface="Noto Sans KR Black"/>
              </a:rPr>
              <a:t>물리적 분리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771900"/>
            <a:ext cx="7672982" cy="304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 u="none">
                <a:solidFill>
                  <a:srgbClr val="94A3B8"/>
                </a:solidFill>
                <a:latin typeface="Noto Sans KR"/>
              </a:rPr>
              <a:t>실시간 온·전류 모니터링 및 FSM 기반 메커니즘을 통한 2차 피해 최소화 솔루션 (중간 발표)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1866900"/>
            <a:ext cx="111174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4705350"/>
            <a:ext cx="1303883" cy="381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64748B"/>
                </a:solidFill>
                <a:latin typeface="Noto Sans KR Medium"/>
              </a:rPr>
              <a:t>PRESENTATION TYPE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F1F5F9"/>
                </a:solidFill>
                <a:latin typeface="Noto Sans KR SemiBold"/>
              </a:rPr>
              <a:t>프로젝트 중간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133" y="4705350"/>
            <a:ext cx="2819400" cy="381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64748B"/>
                </a:solidFill>
                <a:latin typeface="Noto Sans KR Medium"/>
              </a:rPr>
              <a:t>KEY TECHNOLOGY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F1F5F9"/>
                </a:solidFill>
                <a:latin typeface="Noto Sans KR SemiBold"/>
              </a:rPr>
              <a:t>Arduino / Python / FSM / 3D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533" y="4705350"/>
            <a:ext cx="593228" cy="381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64748B"/>
                </a:solidFill>
                <a:latin typeface="Noto Sans KR Medium"/>
              </a:rPr>
              <a:t>DATE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F1F5F9"/>
                </a:solidFill>
                <a:latin typeface="Noto Sans KR SemiBold"/>
              </a:rPr>
              <a:t>2026. 08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85950"/>
            <a:ext cx="208776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660" y="1885950"/>
            <a:ext cx="2087909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970" y="1885950"/>
            <a:ext cx="2087909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92280" y="1885950"/>
            <a:ext cx="2087909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2590" y="1885950"/>
            <a:ext cx="208776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39192" y="475488"/>
            <a:ext cx="9981307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OVERVIEW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550" b="1" i="0" u="none">
                <a:solidFill>
                  <a:srgbClr val="F8FAFC"/>
                </a:solidFill>
                <a:latin typeface="Noto Sans KR"/>
              </a:rPr>
              <a:t>발표 목차 (Index)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1022" y="3676650"/>
            <a:ext cx="206871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1525" y="2181225"/>
            <a:ext cx="168771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22152" y="4905375"/>
            <a:ext cx="237083" cy="304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821186" y="3676650"/>
            <a:ext cx="2068858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11685" y="2181225"/>
            <a:ext cx="1687859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02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2462" y="4905375"/>
            <a:ext cx="237083" cy="304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61496" y="3676650"/>
            <a:ext cx="2068858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1995" y="2181225"/>
            <a:ext cx="1687859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03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2772" y="4905375"/>
            <a:ext cx="237083" cy="3048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301806" y="3676650"/>
            <a:ext cx="2068858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2305" y="2181225"/>
            <a:ext cx="1687859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04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3082" y="4905375"/>
            <a:ext cx="237083" cy="304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9542112" y="3676650"/>
            <a:ext cx="206871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2615" y="2181225"/>
            <a:ext cx="168771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83242" y="4905375"/>
            <a:ext cx="237083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1525" y="2781300"/>
            <a:ext cx="1772096" cy="2754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500" b="1" i="0" u="none">
                <a:solidFill>
                  <a:srgbClr val="f8fafc"/>
                </a:solidFill>
                <a:latin typeface="Noto Sans KR"/>
              </a:rPr>
              <a:t>프로젝트 소개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525" y="3152775"/>
            <a:ext cx="1687710" cy="199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sz="1050" b="0" i="0" u="none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11685" y="2781300"/>
            <a:ext cx="1772252" cy="2571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F8FAFC"/>
                </a:solidFill>
                <a:latin typeface="Noto Sans KR"/>
              </a:rPr>
              <a:t>아두이노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1685" y="3152775"/>
            <a:ext cx="1687859" cy="199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sz="1050" b="0" i="0" u="none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51995" y="2781300"/>
            <a:ext cx="1772251" cy="2754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프로그래밍 테스트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1995" y="3152775"/>
            <a:ext cx="1687859" cy="199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sz="1050" b="0" i="0" u="none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2305" y="2781300"/>
            <a:ext cx="1772252" cy="2571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F8FAFC"/>
                </a:solidFill>
                <a:latin typeface="Noto Sans KR"/>
              </a:rPr>
              <a:t>3D 시뮬레이션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2305" y="3152775"/>
            <a:ext cx="1687859" cy="199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sz="1050" b="0" i="0" u="none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732615" y="2781300"/>
            <a:ext cx="1772096" cy="2754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기능 요구 사항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732615" y="3152775"/>
            <a:ext cx="1687710" cy="19926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sz="1050" b="0" i="0" u="none">
              <a:solidFill>
                <a:srgbClr val="94A3B8"/>
              </a:solidFill>
              <a:latin typeface="Noto Sans KR"/>
            </a:endParaRPr>
          </a:p>
        </p:txBody>
      </p:sp>
      <p:sp>
        <p:nvSpPr>
          <p:cNvPr id="38" name="TextBox 13"/>
          <p:cNvSpPr txBox="1"/>
          <p:nvPr/>
        </p:nvSpPr>
        <p:spPr>
          <a:xfrm>
            <a:off x="771524" y="3885450"/>
            <a:ext cx="1687710" cy="54291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</a:t>
            </a:r>
            <a:r>
              <a:rPr lang="en-US" altLang="ko-KR" sz="3150" b="0" i="0" u="none">
                <a:solidFill>
                  <a:srgbClr val="38bdf8"/>
                </a:solidFill>
                <a:latin typeface="Poppins ExtraBold"/>
              </a:rPr>
              <a:t>6</a:t>
            </a:r>
            <a:endParaRPr lang="en-US" altLang="ko-KR" sz="3150" b="0" i="0" u="none">
              <a:solidFill>
                <a:srgbClr val="38bdf8"/>
              </a:solidFill>
              <a:latin typeface="Poppins ExtraBold"/>
            </a:endParaRPr>
          </a:p>
        </p:txBody>
      </p:sp>
      <p:sp>
        <p:nvSpPr>
          <p:cNvPr id="39" name="TextBox 13"/>
          <p:cNvSpPr txBox="1"/>
          <p:nvPr/>
        </p:nvSpPr>
        <p:spPr>
          <a:xfrm>
            <a:off x="3011685" y="3885450"/>
            <a:ext cx="1687710" cy="54291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</a:t>
            </a:r>
            <a:r>
              <a:rPr lang="en-US" altLang="ko-KR" sz="3150" b="0" i="0" u="none">
                <a:solidFill>
                  <a:srgbClr val="38bdf8"/>
                </a:solidFill>
                <a:latin typeface="Poppins ExtraBold"/>
              </a:rPr>
              <a:t>7</a:t>
            </a:r>
            <a:endParaRPr lang="en-US" altLang="ko-KR" sz="3150" b="0" i="0" u="none">
              <a:solidFill>
                <a:srgbClr val="38bdf8"/>
              </a:solidFill>
              <a:latin typeface="Poppins ExtraBold"/>
            </a:endParaRPr>
          </a:p>
        </p:txBody>
      </p:sp>
      <p:sp>
        <p:nvSpPr>
          <p:cNvPr id="40" name="TextBox 13"/>
          <p:cNvSpPr txBox="1"/>
          <p:nvPr/>
        </p:nvSpPr>
        <p:spPr>
          <a:xfrm>
            <a:off x="5252145" y="3885450"/>
            <a:ext cx="1687710" cy="54291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3150" b="0" i="0" u="none">
                <a:solidFill>
                  <a:srgbClr val="38bdf8"/>
                </a:solidFill>
                <a:latin typeface="Poppins ExtraBold"/>
              </a:rPr>
              <a:t>0</a:t>
            </a:r>
            <a:r>
              <a:rPr lang="en-US" altLang="ko-KR" sz="3150" b="0" i="0" u="none">
                <a:solidFill>
                  <a:srgbClr val="38bdf8"/>
                </a:solidFill>
                <a:latin typeface="Poppins ExtraBold"/>
              </a:rPr>
              <a:t>8</a:t>
            </a:r>
            <a:endParaRPr lang="en-US" altLang="ko-KR" sz="3150" b="0" i="0" u="none">
              <a:solidFill>
                <a:srgbClr val="38bdf8"/>
              </a:solidFill>
              <a:latin typeface="Poppins ExtraBold"/>
            </a:endParaRPr>
          </a:p>
        </p:txBody>
      </p:sp>
      <p:sp>
        <p:nvSpPr>
          <p:cNvPr id="41" name="TextBox 13"/>
          <p:cNvSpPr txBox="1"/>
          <p:nvPr/>
        </p:nvSpPr>
        <p:spPr>
          <a:xfrm>
            <a:off x="7492305" y="3885450"/>
            <a:ext cx="1687710" cy="54291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3150" b="0" i="0" u="none">
                <a:solidFill>
                  <a:srgbClr val="38bdf8"/>
                </a:solidFill>
                <a:latin typeface="Poppins ExtraBold"/>
              </a:rPr>
              <a:t>09</a:t>
            </a:r>
            <a:endParaRPr lang="en-US" altLang="ko-KR" sz="3150" b="0" i="0" u="none">
              <a:solidFill>
                <a:srgbClr val="38bdf8"/>
              </a:solidFill>
              <a:latin typeface="Poppins ExtraBold"/>
            </a:endParaRPr>
          </a:p>
        </p:txBody>
      </p:sp>
      <p:sp>
        <p:nvSpPr>
          <p:cNvPr id="42" name="TextBox 13"/>
          <p:cNvSpPr txBox="1"/>
          <p:nvPr/>
        </p:nvSpPr>
        <p:spPr>
          <a:xfrm>
            <a:off x="9732615" y="3885451"/>
            <a:ext cx="1687710" cy="542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3150" b="0" i="0" u="none">
                <a:solidFill>
                  <a:srgbClr val="38bdf8"/>
                </a:solidFill>
                <a:latin typeface="Poppins ExtraBold"/>
              </a:rPr>
              <a:t>10</a:t>
            </a:r>
            <a:endParaRPr lang="en-US" altLang="ko-KR" sz="3150" b="0" i="0" u="none">
              <a:solidFill>
                <a:srgbClr val="38bdf8"/>
              </a:solidFill>
              <a:latin typeface="Poppins ExtraBold"/>
            </a:endParaRPr>
          </a:p>
        </p:txBody>
      </p:sp>
      <p:sp>
        <p:nvSpPr>
          <p:cNvPr id="43" name="TextBox 27"/>
          <p:cNvSpPr txBox="1"/>
          <p:nvPr/>
        </p:nvSpPr>
        <p:spPr>
          <a:xfrm>
            <a:off x="771524" y="4428363"/>
            <a:ext cx="1772096" cy="276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동작 시퀀스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44" name="TextBox 27"/>
          <p:cNvSpPr txBox="1"/>
          <p:nvPr/>
        </p:nvSpPr>
        <p:spPr>
          <a:xfrm>
            <a:off x="2927299" y="4428363"/>
            <a:ext cx="1772096" cy="276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적정 기술 선택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45" name="TextBox 27"/>
          <p:cNvSpPr txBox="1"/>
          <p:nvPr/>
        </p:nvSpPr>
        <p:spPr>
          <a:xfrm>
            <a:off x="5209952" y="4428363"/>
            <a:ext cx="1772096" cy="276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논리 전개 과정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46" name="TextBox 27"/>
          <p:cNvSpPr txBox="1"/>
          <p:nvPr/>
        </p:nvSpPr>
        <p:spPr>
          <a:xfrm>
            <a:off x="7492305" y="4428363"/>
            <a:ext cx="1772096" cy="276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진행 과정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  <p:sp>
        <p:nvSpPr>
          <p:cNvPr id="47" name="TextBox 27"/>
          <p:cNvSpPr txBox="1"/>
          <p:nvPr/>
        </p:nvSpPr>
        <p:spPr>
          <a:xfrm>
            <a:off x="9732615" y="4428363"/>
            <a:ext cx="1772096" cy="276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f8fafc"/>
                </a:solidFill>
                <a:latin typeface="Noto Sans KR"/>
              </a:rPr>
              <a:t>보완할 점</a:t>
            </a:r>
            <a:endParaRPr lang="ko-KR" altLang="en-US" sz="1500" b="1" i="0" u="none">
              <a:solidFill>
                <a:srgbClr val="f8fafc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59610"/>
            <a:ext cx="11049000" cy="10629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5450"/>
            <a:ext cx="5410200" cy="13352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95450"/>
            <a:ext cx="5410200" cy="13352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01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03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550" b="1" i="0" u="none">
                <a:solidFill>
                  <a:srgbClr val="F8FAFC"/>
                </a:solidFill>
                <a:latin typeface="Noto Sans KR"/>
              </a:rPr>
              <a:t>1. 프로젝트 소개 - 개발 목표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373" y="5697735"/>
            <a:ext cx="10344001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38BDF8"/>
                </a:solidFill>
                <a:latin typeface="Noto Sans KR"/>
              </a:rPr>
              <a:t>시스템 기대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6040635"/>
            <a:ext cx="10572750" cy="2437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초기 단계에서의 신속한 경보 발생 및 물리적 분리 메커니즘을 통해 차량 전체 화재 전이 방지 및 탑승자 골든타임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1682" y="1933575"/>
            <a:ext cx="4661892" cy="25717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38BDF8"/>
                </a:solidFill>
                <a:latin typeface="Noto Sans KR"/>
              </a:rPr>
              <a:t>프로젝트 배경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305050"/>
            <a:ext cx="4905375" cy="487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전기차(EV) 보급 확대에 따라 배터리 열폭주(Thermal Runaway)로 인한 대형 화재 사고 및 2차 인명·재산 피해 우려가 급증하고 있음.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482" y="1933575"/>
            <a:ext cx="4661892" cy="25717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38BDF8"/>
                </a:solidFill>
                <a:latin typeface="Noto Sans KR"/>
              </a:rPr>
              <a:t>핵심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2305050"/>
            <a:ext cx="4905375" cy="487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EV 배터리의 </a:t>
            </a:r>
            <a:r>
              <a:rPr sz="1200" b="1" i="0" u="none">
                <a:solidFill>
                  <a:srgbClr val="38BDF8"/>
                </a:solidFill>
                <a:latin typeface="Noto Sans KR"/>
              </a:rPr>
              <a:t>열폭주를 조기에 감지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하고, 위험 상황 발생 시 배터리를 차량 물리 프레임으로부터 </a:t>
            </a:r>
            <a:r>
              <a:rPr sz="1200" b="1" i="0" u="none">
                <a:solidFill>
                  <a:srgbClr val="F87171"/>
                </a:solidFill>
                <a:latin typeface="Noto Sans KR"/>
              </a:rPr>
              <a:t>즉시 분리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하여 2차 피해를 최소화함.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5726310"/>
            <a:ext cx="133498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966912"/>
            <a:ext cx="148232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966912"/>
            <a:ext cx="148232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0700"/>
            <a:ext cx="2400300" cy="1581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449" y="1790700"/>
            <a:ext cx="2400300" cy="1581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7399" y="1876425"/>
            <a:ext cx="2400300" cy="1409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0348" y="1790700"/>
            <a:ext cx="2400300" cy="1581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57600"/>
            <a:ext cx="5410200" cy="157906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657600"/>
            <a:ext cx="5410200" cy="1579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01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04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550" b="1" i="0" u="none">
                <a:solidFill>
                  <a:srgbClr val="F8FAFC"/>
                </a:solidFill>
                <a:latin typeface="Noto Sans KR"/>
              </a:rPr>
              <a:t>1. 프로젝트 소개 - 시스템 메커니즘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24200" y="2466975"/>
            <a:ext cx="177849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7149" y="2466975"/>
            <a:ext cx="177849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0099" y="2466975"/>
            <a:ext cx="177849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151" y="2028825"/>
            <a:ext cx="266848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1523" y="2486025"/>
            <a:ext cx="202025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F8FAFC"/>
                </a:solidFill>
                <a:latin typeface="Noto Sans KR"/>
              </a:rPr>
              <a:t>1. 실시간 모니터링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790825"/>
            <a:ext cx="1924050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온도 센서 &amp; 전류 센서로 배터리 상태 상시 측정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1100" y="2028825"/>
            <a:ext cx="266848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44473" y="2486025"/>
            <a:ext cx="202025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F8FAFC"/>
                </a:solidFill>
                <a:latin typeface="Noto Sans KR"/>
              </a:rPr>
              <a:t>2. FSM 상태 판단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2574" y="2790825"/>
            <a:ext cx="1924050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Finite State Machine 알고리즘 기반 위험도 판정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4050" y="2114550"/>
            <a:ext cx="266848" cy="3429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27422" y="2571750"/>
            <a:ext cx="202025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F8FAFC"/>
                </a:solidFill>
                <a:latin typeface="Noto Sans KR"/>
              </a:rPr>
              <a:t>3. 경고 및 반응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524" y="2876550"/>
            <a:ext cx="1924050" cy="1714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LED &amp; 부저 경고 알림 발생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87000" y="2028825"/>
            <a:ext cx="266848" cy="342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10372" y="2486025"/>
            <a:ext cx="2020252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 u="none">
                <a:solidFill>
                  <a:srgbClr val="F8FAFC"/>
                </a:solidFill>
                <a:latin typeface="Noto Sans KR"/>
              </a:rPr>
              <a:t>4. 배터리 물리 분리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8473" y="2790825"/>
            <a:ext cx="1924050" cy="3429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u="none">
                <a:solidFill>
                  <a:srgbClr val="94A3B8"/>
                </a:solidFill>
                <a:latin typeface="Noto Sans KR"/>
              </a:rPr>
              <a:t>서보모터 분리 메커니즘 즉시 동작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107" y="3895725"/>
            <a:ext cx="4690467" cy="25717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38BDF8"/>
                </a:solidFill>
                <a:latin typeface="Noto Sans KR"/>
              </a:rPr>
              <a:t>FSM (Finite State Machine) 상태 정의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1907" y="3895725"/>
            <a:ext cx="4690467" cy="25717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 u="none">
                <a:solidFill>
                  <a:srgbClr val="38BDF8"/>
                </a:solidFill>
                <a:latin typeface="Noto Sans KR"/>
              </a:rPr>
              <a:t>하드웨어 구동 메커니즘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8425" y="4267200"/>
            <a:ext cx="4933950" cy="4857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25" b="0" i="0" u="none">
                <a:solidFill>
                  <a:srgbClr val="CBD5E1"/>
                </a:solidFill>
                <a:latin typeface="Noto Sans KR"/>
              </a:rPr>
              <a:t>DANGER 상태 진입 시 수 ms 이내에 서보모터에 분리 신호를 전달하며, 기계적 락(Lock) 구조를 해제하여 배터리 팩을 하부로 안전하게 이탈시킵니다.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625" y="3929062"/>
            <a:ext cx="148232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2975" y="4265295"/>
            <a:ext cx="57150" cy="2476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125" y="4267200"/>
            <a:ext cx="4743450" cy="2437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10B981"/>
                </a:solidFill>
                <a:latin typeface="Noto Sans KR"/>
              </a:rPr>
              <a:t>NORMAL: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정상 온·전류 범위 (안전 모니터링)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4509075"/>
            <a:ext cx="57150" cy="2476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125" y="4510980"/>
            <a:ext cx="4743450" cy="2437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F59E0B"/>
                </a:solidFill>
                <a:latin typeface="Noto Sans KR"/>
              </a:rPr>
              <a:t>WARNING: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임계치 접근 (LED 1차 경고)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975" y="4752855"/>
            <a:ext cx="57150" cy="24765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125" y="4754760"/>
            <a:ext cx="4743450" cy="2437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EF4444"/>
                </a:solidFill>
                <a:latin typeface="Noto Sans KR"/>
              </a:rPr>
              <a:t>DANGER: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열폭주 징후 감지 (부저 + 분리 명령 작동)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48425" y="3929062"/>
            <a:ext cx="148232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695450"/>
            <a:ext cx="54102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0300" y="1695450"/>
            <a:ext cx="5410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809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02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2550" b="1" i="0" u="none">
                <a:solidFill>
                  <a:srgbClr val="F8FAFC"/>
                </a:solidFill>
                <a:latin typeface="Noto Sans KR"/>
              </a:rPr>
              <a:t>2. 아두이노 - 회로 구성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20925" y="3205162"/>
            <a:ext cx="311199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8149" y="3719504"/>
            <a:ext cx="233674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E2E8F0"/>
                </a:solidFill>
                <a:latin typeface="Noto Sans KR SemiBold"/>
              </a:rPr>
              <a:t>[ 아두이노 회로 구성도 사진 공간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7675" y="4033875"/>
            <a:ext cx="3157697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이곳에 실제 구성한 회로도 및 핀 연결 사진을 삽입하세요.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 (추후 사용자가 이미지 파일 삽입 예정)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91906" y="1943100"/>
            <a:ext cx="4690468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500" b="1" i="0" u="none">
                <a:solidFill>
                  <a:srgbClr val="38BDF8"/>
                </a:solidFill>
                <a:latin typeface="Noto Sans KR"/>
              </a:rPr>
              <a:t>주요 하드웨어 구성 요소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6448425" y="1966912"/>
            <a:ext cx="14823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2303145"/>
            <a:ext cx="57150" cy="17335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2305050"/>
            <a:ext cx="4743450" cy="2437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Arduino Uno </a:t>
            </a:r>
            <a:r>
              <a:rPr lang="en-US" altLang="ko-KR" sz="1200" b="0" i="0" u="none">
                <a:solidFill>
                  <a:srgbClr val="CBD5E1"/>
                </a:solidFill>
                <a:latin typeface="Noto Sans KR"/>
              </a:rPr>
              <a:t>1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2546925"/>
            <a:ext cx="57150" cy="1772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2548830"/>
            <a:ext cx="4743450" cy="2324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NTC 온도 센서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 </a:t>
            </a:r>
            <a:r>
              <a:rPr lang="en-US" altLang="ko-KR" sz="1200" b="0" i="0" u="none">
                <a:solidFill>
                  <a:srgbClr val="CBD5E1"/>
                </a:solidFill>
                <a:latin typeface="Noto Sans KR"/>
              </a:rPr>
              <a:t>1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2790705"/>
            <a:ext cx="57150" cy="17157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925" y="2792610"/>
            <a:ext cx="4743450" cy="2437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가변저항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 </a:t>
            </a:r>
            <a:r>
              <a:rPr lang="en-US" altLang="ko-KR" sz="1200" b="0" i="0" u="none">
                <a:solidFill>
                  <a:srgbClr val="CBD5E1"/>
                </a:solidFill>
                <a:latin typeface="Noto Sans KR"/>
              </a:rPr>
              <a:t>1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034486"/>
            <a:ext cx="57150" cy="175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925" y="3036391"/>
            <a:ext cx="4743450" cy="2306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LED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 </a:t>
            </a:r>
            <a:r>
              <a:rPr lang="en-US" altLang="ko-KR" sz="1200" b="0" i="0" u="none">
                <a:solidFill>
                  <a:srgbClr val="CBD5E1"/>
                </a:solidFill>
                <a:latin typeface="Noto Sans KR"/>
              </a:rPr>
              <a:t>1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개</a:t>
            </a:r>
          </a:p>
        </p:txBody>
      </p:sp>
      <p:sp>
        <p:nvSpPr>
          <p:cNvPr id="26" name="TextBox 22"/>
          <p:cNvSpPr txBox="1"/>
          <p:nvPr/>
        </p:nvSpPr>
        <p:spPr>
          <a:xfrm>
            <a:off x="6581775" y="3272611"/>
            <a:ext cx="57150" cy="175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27" name="TextBox 23"/>
          <p:cNvSpPr txBox="1"/>
          <p:nvPr/>
        </p:nvSpPr>
        <p:spPr>
          <a:xfrm>
            <a:off x="6638925" y="3264991"/>
            <a:ext cx="4743450" cy="2306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부저 </a:t>
            </a:r>
            <a:r>
              <a:rPr lang="en-US" altLang="ko-KR" sz="1200" b="0" i="0" u="none">
                <a:solidFill>
                  <a:srgbClr val="CBD5E1"/>
                </a:solidFill>
                <a:latin typeface="Noto Sans KR"/>
              </a:rPr>
              <a:t>1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개</a:t>
            </a:r>
          </a:p>
        </p:txBody>
      </p:sp>
      <p:sp>
        <p:nvSpPr>
          <p:cNvPr id="28" name="TextBox 22"/>
          <p:cNvSpPr txBox="1"/>
          <p:nvPr/>
        </p:nvSpPr>
        <p:spPr>
          <a:xfrm>
            <a:off x="6581775" y="3510736"/>
            <a:ext cx="57150" cy="17543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CBD5E1"/>
                </a:solidFill>
                <a:latin typeface="Noto Sans KR"/>
              </a:rPr>
              <a:t>•</a:t>
            </a:r>
          </a:p>
        </p:txBody>
      </p:sp>
      <p:sp>
        <p:nvSpPr>
          <p:cNvPr id="29" name="TextBox 23"/>
          <p:cNvSpPr txBox="1"/>
          <p:nvPr/>
        </p:nvSpPr>
        <p:spPr>
          <a:xfrm>
            <a:off x="6638925" y="3493591"/>
            <a:ext cx="4743450" cy="23068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서보모터 </a:t>
            </a:r>
            <a:r>
              <a:rPr lang="en-US" altLang="ko-KR" sz="1200" b="0" i="0" u="none">
                <a:solidFill>
                  <a:srgbClr val="cbd5e1"/>
                </a:solidFill>
                <a:latin typeface="Noto Sans KR"/>
              </a:rPr>
              <a:t>2</a:t>
            </a:r>
            <a:r>
              <a:rPr lang="ko-KR" altLang="en-US" sz="1200" b="0" i="0" u="none">
                <a:solidFill>
                  <a:srgbClr val="cbd5e1"/>
                </a:solidFill>
                <a:latin typeface="Noto Sans KR"/>
              </a:rPr>
              <a:t>개</a:t>
            </a:r>
            <a:endParaRPr lang="ko-KR" altLang="en-US" sz="1200" b="0" i="0" u="none">
              <a:solidFill>
                <a:srgbClr val="cbd5e1"/>
              </a:solidFill>
              <a:latin typeface="Noto Sans KR"/>
            </a:endParaRP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71500" y="1695450"/>
            <a:ext cx="54102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mc="http://schemas.openxmlformats.org/markup-compatibility/2006" xmlns:a14="http://schemas.microsoft.com/office/drawing/2010/main" mc:Ignorable="a14 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695450"/>
            <a:ext cx="54102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0300" y="1624012"/>
            <a:ext cx="5410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809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02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550" b="1" i="0" u="none">
                <a:solidFill>
                  <a:srgbClr val="F8FAFC"/>
                </a:solidFill>
                <a:latin typeface="Noto Sans KR"/>
              </a:rPr>
              <a:t>3</a:t>
            </a:r>
            <a:r>
              <a:rPr sz="2550" b="1" i="0" u="none">
                <a:solidFill>
                  <a:srgbClr val="F8FAFC"/>
                </a:solidFill>
                <a:latin typeface="Noto Sans KR"/>
              </a:rPr>
              <a:t>. </a:t>
            </a:r>
            <a:r>
              <a:rPr lang="ko-KR" altLang="en-US" sz="2550" b="1" i="0" u="none">
                <a:solidFill>
                  <a:srgbClr val="F8FAFC"/>
                </a:solidFill>
                <a:latin typeface="Noto Sans KR"/>
              </a:rPr>
              <a:t>프로그래밍 테스트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20925" y="3205162"/>
            <a:ext cx="311199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8149" y="3719504"/>
            <a:ext cx="233674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E2E8F0"/>
                </a:solidFill>
                <a:latin typeface="Noto Sans KR SemiBold"/>
              </a:rPr>
              <a:t>[ 아두이노 회로 구성도 사진 공간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7675" y="4033875"/>
            <a:ext cx="3157697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이곳에 실제 구성한 회로도 및 핀 연결 사진을 삽입하세요.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 (추후 사용자가 이미지 파일 삽입 예정)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943740"/>
            <a:ext cx="4608576" cy="105587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just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[0~5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초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] 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정상 주행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: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현재 보시는 회색 선은 실제 센서의 원시 데이터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(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노이즈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)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이며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, 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빨간 선은 이동 평</a:t>
            </a:r>
            <a:r>
              <a:rPr lang="ko-KR" alt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균 수식                  </a:t>
            </a:r>
            <a:endParaRPr lang="ko-KR" altLang="en-US" sz="1500" b="1" i="0" u="none" strike="noStrike" baseline="0">
              <a:solidFill>
                <a:schemeClr val="lt1"/>
              </a:solidFill>
              <a:latin typeface="Google"/>
              <a:ea typeface="Google"/>
              <a:cs typeface="Google"/>
            </a:endParaRPr>
          </a:p>
          <a:p>
            <a:pPr lvl="0" algn="just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을 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적용해 노이즈를 제거한 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BMS 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판단 기준선입니다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. </a:t>
            </a:r>
            <a:r>
              <a:rPr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현재는 정상 주행 중입니다</a:t>
            </a:r>
            <a:r>
              <a:rPr lang="EN-US" sz="15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.</a:t>
            </a:r>
            <a:endParaRPr lang="EN-US" sz="1500" b="1" i="0" u="none" strike="noStrike" baseline="0">
              <a:solidFill>
                <a:schemeClr val="lt1"/>
              </a:solidFill>
              <a:latin typeface="Google"/>
              <a:ea typeface="Google"/>
              <a:cs typeface="Google"/>
            </a:endParaRPr>
          </a:p>
        </p:txBody>
      </p:sp>
      <p:pic>
        <p:nvPicPr>
          <p:cNvPr id="32" name="그림 31"/>
          <p:cNvPicPr/>
          <p:nvPr/>
        </p:nvPicPr>
        <p:blipFill rotWithShape="1">
          <a:blip r:embed="rId8"/>
          <a:stretch>
            <a:fillRect/>
          </a:stretch>
        </p:blipFill>
        <p:spPr>
          <a:xfrm>
            <a:off x="573608" y="1695450"/>
            <a:ext cx="5408092" cy="4191000"/>
          </a:xfrm>
          <a:prstGeom prst="rect">
            <a:avLst/>
          </a:prstGeom>
          <a:noFill/>
          <a:ln>
            <a:noFill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자유형 38"/>
              <p:cNvSpPr/>
              <p:nvPr/>
            </p:nvSpPr>
            <p:spPr>
              <a:xfrm>
                <a:off x="6910387" y="3429000"/>
                <a:ext cx="4010025" cy="16478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lt1"/>
              </a:solidFill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3000">
                          <a:latin typeface="Cambria Math"/>
                          <a:sym typeface="Cambria Math"/>
                        </a:rPr>
                        <m:t>𝑦</m:t>
                      </m:r>
                      <m:r>
                        <a:rPr sz="3000">
                          <a:latin typeface="Cambria Math"/>
                          <a:sym typeface="Cambria Math"/>
                        </a:rPr>
                        <m:t>[</m:t>
                      </m:r>
                      <m:r>
                        <a:rPr sz="3000">
                          <a:latin typeface="Cambria Math"/>
                          <a:sym typeface="Cambria Math"/>
                        </a:rPr>
                        <m:t>𝑛</m:t>
                      </m:r>
                      <m:r>
                        <a:rPr sz="3000">
                          <a:latin typeface="Cambria Math"/>
                          <a:sym typeface="Cambria Math"/>
                        </a:rPr>
                        <m:t>]=1/</m:t>
                      </m:r>
                      <m:r>
                        <a:rPr sz="3000">
                          <a:latin typeface="Cambria Math"/>
                          <a:sym typeface="Cambria Math"/>
                        </a:rPr>
                        <m:t>𝑁</m:t>
                      </m:r>
                      <m:nary>
                        <m:naryPr>
                          <m:chr m:val="∑"/>
                          <m:limLoc m:val="undOvr"/>
                          <m:ctrlPr>
                            <a:rPr sz="3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=0</m:t>
                          </m:r>
                        </m:sub>
                        <m:sup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𝑁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−1</m:t>
                          </m:r>
                        </m:sup>
                        <m:e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𝑥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[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𝑛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−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39" name=""/>
              <p:cNvSpPr txBox="1"/>
              <p:nvPr/>
            </p:nvSpPr>
            <p:spPr>
              <a:xfrm>
                <a:off x="6910387" y="3429000"/>
                <a:ext cx="4010025" cy="164782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1891750932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695450"/>
            <a:ext cx="54102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0300" y="1695450"/>
            <a:ext cx="5410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809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02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2550" b="1" i="0" u="none">
                <a:solidFill>
                  <a:srgbClr val="F8FAFC"/>
                </a:solidFill>
                <a:latin typeface="Noto Sans KR"/>
              </a:rPr>
              <a:t>프로그래밍 테스트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20925" y="3205162"/>
            <a:ext cx="311199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8149" y="3719504"/>
            <a:ext cx="233674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E2E8F0"/>
                </a:solidFill>
                <a:latin typeface="Noto Sans KR SemiBold"/>
              </a:rPr>
              <a:t>[ 아두이노 회로 구성도 사진 공간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7675" y="4033875"/>
            <a:ext cx="3157697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이곳에 실제 구성한 회로도 및 핀 연결 사진을 삽입하세요.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 (추후 사용자가 이미지 파일 삽입 예정)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943740"/>
            <a:ext cx="4608576" cy="167499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just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[5~9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초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] 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이상 발열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: 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상단 상태창이 주황색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(WARNING)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으로 변했습니다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. 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배터리 내부 단락으로 온도가 서서히 오르고 있지만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, 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아직 열폭주 임계 기울기 α에는 도달하지 않았습니다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.</a:t>
            </a:r>
            <a:endParaRPr lang="ko-KR" altLang="en-US" sz="2000" b="0" i="0" u="none">
              <a:solidFill>
                <a:schemeClr val="lt1"/>
              </a:solidFill>
              <a:latin typeface="Noto Sans KR"/>
            </a:endParaRPr>
          </a:p>
        </p:txBody>
      </p:sp>
      <p:pic>
        <p:nvPicPr>
          <p:cNvPr id="32" name="그림 31"/>
          <p:cNvPicPr/>
          <p:nvPr/>
        </p:nvPicPr>
        <p:blipFill rotWithShape="1">
          <a:blip r:embed="rId8"/>
          <a:stretch>
            <a:fillRect/>
          </a:stretch>
        </p:blipFill>
        <p:spPr>
          <a:xfrm>
            <a:off x="599820" y="1695450"/>
            <a:ext cx="5381879" cy="41910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50904784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mc="http://schemas.openxmlformats.org/markup-compatibility/2006" xmlns:a14="http://schemas.microsoft.com/office/drawing/2010/main" mc:Ignorable="a14 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695450"/>
            <a:ext cx="54102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0300" y="1695450"/>
            <a:ext cx="5410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809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02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2550" b="1" i="0" u="none">
                <a:solidFill>
                  <a:srgbClr val="F8FAFC"/>
                </a:solidFill>
                <a:latin typeface="Noto Sans KR"/>
              </a:rPr>
              <a:t>프로그래밍 테스트</a:t>
            </a:r>
            <a:endParaRPr sz="2550" b="1" i="0" u="none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20925" y="3205162"/>
            <a:ext cx="311199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8149" y="3719504"/>
            <a:ext cx="233674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E2E8F0"/>
                </a:solidFill>
                <a:latin typeface="Noto Sans KR SemiBold"/>
              </a:rPr>
              <a:t>[ 아두이노 회로 구성도 사진 공간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7675" y="4033875"/>
            <a:ext cx="3157697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이곳에 실제 구성한 회로도 및 핀 연결 사진을 삽입하세요.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 (추후 사용자가 이미지 파일 삽입 예정)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943740"/>
            <a:ext cx="4608576" cy="1084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just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[9~12</a:t>
            </a:r>
            <a:r>
              <a:rPr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초</a:t>
            </a:r>
            <a:r>
              <a:rPr lang="EN-US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] </a:t>
            </a:r>
            <a:r>
              <a:rPr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열폭주 및 물리적 투하</a:t>
            </a:r>
            <a:r>
              <a:rPr lang="EN-US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: </a:t>
            </a:r>
            <a:r>
              <a:rPr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온도가 급상승하며</a:t>
            </a:r>
            <a:r>
              <a:rPr lang="ko-KR" altLang="en-US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 </a:t>
            </a:r>
            <a:r>
              <a:rPr lang="en-US" altLang="ko-KR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dT/dt</a:t>
            </a:r>
            <a:r>
              <a:rPr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값이 임계치를 돌파했습니다 화면이 붉게 변하며 시스템이 배터리 하단 래치를 해제</a:t>
            </a:r>
            <a:r>
              <a:rPr lang="EN-US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(EJECT)</a:t>
            </a:r>
            <a:r>
              <a:rPr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하라는 명령을 내립니다</a:t>
            </a:r>
            <a:r>
              <a:rPr lang="EN-US" sz="16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.</a:t>
            </a:r>
            <a:endParaRPr lang="en-US" altLang="ko-KR" sz="1600" b="1" i="0" u="none" strike="noStrike" baseline="0">
              <a:solidFill>
                <a:schemeClr val="lt1"/>
              </a:solidFill>
              <a:latin typeface="Google"/>
              <a:ea typeface="Google"/>
              <a:cs typeface="Google"/>
            </a:endParaRPr>
          </a:p>
        </p:txBody>
      </p:sp>
      <p:pic>
        <p:nvPicPr>
          <p:cNvPr id="32" name="그림 31"/>
          <p:cNvPicPr/>
          <p:nvPr/>
        </p:nvPicPr>
        <p:blipFill rotWithShape="1">
          <a:blip r:embed="rId8"/>
          <a:stretch>
            <a:fillRect/>
          </a:stretch>
        </p:blipFill>
        <p:spPr>
          <a:xfrm>
            <a:off x="609600" y="1695450"/>
            <a:ext cx="5372100" cy="4191000"/>
          </a:xfrm>
          <a:prstGeom prst="rect">
            <a:avLst/>
          </a:prstGeom>
          <a:noFill/>
          <a:ln>
            <a:noFill/>
          </a:ln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자유형 32"/>
              <p:cNvSpPr/>
              <p:nvPr/>
            </p:nvSpPr>
            <p:spPr>
              <a:xfrm>
                <a:off x="6700837" y="3171816"/>
                <a:ext cx="4429125" cy="10953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solidFill>
                <a:schemeClr val="lt1"/>
              </a:solidFill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3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𝑑𝑇</m:t>
                          </m:r>
                        </m:num>
                        <m:den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𝑑𝑡</m:t>
                          </m:r>
                        </m:den>
                      </m:f>
                      <m:r>
                        <a:rPr sz="3000" i="1">
                          <a:latin typeface="Cambria Math"/>
                          <a:sym typeface="Cambria Math"/>
                        </a:rPr>
                        <m:t>≈</m:t>
                      </m:r>
                      <m:f>
                        <m:fPr>
                          <m:ctrlPr>
                            <a:rPr sz="30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𝑇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[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𝑛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]−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𝑇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[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𝑛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−1]</m:t>
                          </m:r>
                        </m:num>
                        <m:den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𝛥</m:t>
                          </m:r>
                          <m:r>
                            <a:rPr sz="30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den>
                      </m:f>
                      <m:r>
                        <a:rPr sz="3000" i="1">
                          <a:latin typeface="Cambria Math"/>
                          <a:sym typeface="Cambria Math"/>
                        </a:rPr>
                        <m:t>&gt;</m:t>
                      </m:r>
                      <m:r>
                        <a:rPr sz="3000" i="1">
                          <a:latin typeface="Cambria Math"/>
                          <a:sym typeface="Cambria Math"/>
                        </a:rPr>
                        <m:t>𝛼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33" name=""/>
              <p:cNvSpPr txBox="1"/>
              <p:nvPr/>
            </p:nvSpPr>
            <p:spPr>
              <a:xfrm>
                <a:off x="6700837" y="3171816"/>
                <a:ext cx="4429125" cy="10953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73509403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695450"/>
            <a:ext cx="54102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10300" y="1695450"/>
            <a:ext cx="5410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809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02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2550" b="1" i="0" u="none">
                <a:solidFill>
                  <a:srgbClr val="F8FAFC"/>
                </a:solidFill>
                <a:latin typeface="Noto Sans KR"/>
              </a:rPr>
              <a:t>프로그래밍 테스트</a:t>
            </a:r>
            <a:endParaRPr sz="2550" b="1" i="0" u="none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120925" y="3205162"/>
            <a:ext cx="311199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8149" y="3719504"/>
            <a:ext cx="233674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200" b="0" i="0" u="none">
                <a:solidFill>
                  <a:srgbClr val="E2E8F0"/>
                </a:solidFill>
                <a:latin typeface="Noto Sans KR SemiBold"/>
              </a:rPr>
              <a:t>[ 아두이노 회로 구성도 사진 공간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7675" y="4033875"/>
            <a:ext cx="3157697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이곳에 실제 구성한 회로도 및 핀 연결 사진을 삽입하세요.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 (추후 사용자가 이미지 파일 삽입 예정)</a:t>
            </a:r>
            <a:endParaRPr sz="975" b="0" i="0" u="none">
              <a:solidFill>
                <a:srgbClr val="64748B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6520" y="1943740"/>
            <a:ext cx="4608576" cy="134162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just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[12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초 이후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] 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대피 완료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:"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투하가 완료되어 센서 연결이 해제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(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실온 복귀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)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되었고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, 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차량은 보조 전원으로 안전하게 대피한 상태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(SAFE)</a:t>
            </a:r>
            <a:r>
              <a:rPr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를 보여줍니다</a:t>
            </a:r>
            <a:r>
              <a:rPr lang="EN-US" sz="2000" b="1" i="0" u="none" strike="noStrike" baseline="0">
                <a:solidFill>
                  <a:schemeClr val="lt1"/>
                </a:solidFill>
                <a:latin typeface="Google"/>
                <a:ea typeface="Google"/>
                <a:cs typeface="Google"/>
              </a:rPr>
              <a:t>."</a:t>
            </a:r>
            <a:endParaRPr lang="ko-KR" altLang="en-US" sz="2000" b="0" i="0" u="none">
              <a:solidFill>
                <a:schemeClr val="lt1"/>
              </a:solidFill>
              <a:latin typeface="Noto Sans KR"/>
            </a:endParaRPr>
          </a:p>
        </p:txBody>
      </p:sp>
      <p:pic>
        <p:nvPicPr>
          <p:cNvPr id="32" name="그림 31"/>
          <p:cNvPicPr/>
          <p:nvPr/>
        </p:nvPicPr>
        <p:blipFill rotWithShape="1">
          <a:blip r:embed="rId8"/>
          <a:stretch>
            <a:fillRect/>
          </a:stretch>
        </p:blipFill>
        <p:spPr>
          <a:xfrm>
            <a:off x="571500" y="1695449"/>
            <a:ext cx="5410200" cy="419100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30539197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95450"/>
            <a:ext cx="54102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95450"/>
            <a:ext cx="541020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305050"/>
            <a:ext cx="4933950" cy="266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04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37844"/>
            <a:ext cx="11265408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2550" b="1" i="0" u="none" dirty="0">
                <a:solidFill>
                  <a:srgbClr val="F8FAFC"/>
                </a:solidFill>
                <a:latin typeface="Noto Sans KR"/>
              </a:rPr>
              <a:t>4. 3D </a:t>
            </a:r>
            <a:r>
              <a:rPr sz="2550" b="1" i="0" u="none" dirty="0" err="1" smtClean="0">
                <a:solidFill>
                  <a:srgbClr val="F8FAFC"/>
                </a:solidFill>
                <a:latin typeface="Noto Sans KR"/>
              </a:rPr>
              <a:t>시뮬레이션</a:t>
            </a:r>
            <a:endParaRPr lang="ko-KR" altLang="en-US"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2871787"/>
            <a:ext cx="609600" cy="609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8149" y="3719504"/>
            <a:ext cx="2336749" cy="210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818CF8"/>
                </a:solidFill>
                <a:latin typeface="Noto Sans KR"/>
              </a:rPr>
              <a:t>[ 3D 시뮬레이션 영상 / 시연 공간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7675" y="4033875"/>
            <a:ext cx="3157697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0" i="0" u="none">
                <a:solidFill>
                  <a:srgbClr val="64748B"/>
                </a:solidFill>
                <a:latin typeface="Noto Sans KR"/>
              </a:rPr>
              <a:t>실행 영상 또는 GIF 애니메이션 파일을 여기에 삽입하세요.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7600" y="3062287"/>
            <a:ext cx="177849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91906" y="1943100"/>
            <a:ext cx="4690468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1" i="0" u="none">
                <a:solidFill>
                  <a:srgbClr val="38BDF8"/>
                </a:solidFill>
                <a:latin typeface="Noto Sans KR"/>
              </a:rPr>
              <a:t>왜 필요한가</a:t>
            </a:r>
            <a:r>
              <a:rPr lang="en-US" altLang="ko-KR" sz="1500" b="1" i="0" u="none">
                <a:solidFill>
                  <a:srgbClr val="38BDF8"/>
                </a:solidFill>
                <a:latin typeface="Noto Sans KR"/>
              </a:rPr>
              <a:t>?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1966912"/>
            <a:ext cx="14823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8439" y="2305019"/>
            <a:ext cx="4933920" cy="218049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0" i="0" u="none">
                <a:solidFill>
                  <a:schemeClr val="lt1"/>
                </a:solidFill>
                <a:latin typeface="Noto Sans KR"/>
              </a:rPr>
              <a:t>Tinkercad는 회로와 아두이노 코드(FSM 로직)는 검증할 수 있지만, 배터리 팩이 실제로 차체에서 분리되어 중력으로 낙하하는 장면은 보여줄 수 없습니다. 그 부분만 따로 3D 물리 엔진(CoppeliaSim)으로 만들었습니다.</a:t>
            </a:r>
            <a:endParaRPr lang="ko-KR" altLang="en-US" sz="1500" b="0" i="0" u="none">
              <a:solidFill>
                <a:schemeClr val="lt1"/>
              </a:solidFill>
              <a:latin typeface="Noto Sans KR"/>
            </a:endParaRPr>
          </a:p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lang="ko-KR" altLang="en-US" sz="2100" b="0" i="0" u="none">
              <a:solidFill>
                <a:schemeClr val="lt1"/>
              </a:solidFill>
              <a:latin typeface="Noto Sans KR"/>
            </a:endParaRPr>
          </a:p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500" b="0" i="0" u="none">
                <a:solidFill>
                  <a:schemeClr val="lt1"/>
                </a:solidFill>
                <a:latin typeface="Noto Sans KR"/>
              </a:rPr>
              <a:t>즉, 이 파트는 새로운 회로나 로직이 아니라 아두이노 FSM이 내리는 "배터리 분리" 결정을 3D로 시각화한 것입니다.</a:t>
            </a:r>
            <a:endParaRPr lang="ko-KR" altLang="en-US" sz="1500" b="0" i="0" u="none">
              <a:solidFill>
                <a:schemeClr val="lt1"/>
              </a:solidFill>
              <a:latin typeface="Noto Sans KR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99" y="1656969"/>
            <a:ext cx="5462447" cy="36149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98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04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26917"/>
            <a:ext cx="11265408" cy="4607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550" b="1" i="0" u="none" dirty="0" smtClean="0">
                <a:solidFill>
                  <a:srgbClr val="F8FAFC"/>
                </a:solidFill>
                <a:latin typeface="Noto Sans KR"/>
              </a:rPr>
              <a:t>5</a:t>
            </a:r>
            <a:r>
              <a:rPr sz="2550" b="1" i="0" u="none" dirty="0" smtClean="0">
                <a:solidFill>
                  <a:srgbClr val="F8FAFC"/>
                </a:solidFill>
                <a:latin typeface="Noto Sans KR"/>
              </a:rPr>
              <a:t>. </a:t>
            </a:r>
            <a:r>
              <a:rPr lang="ko-KR" altLang="en-US" sz="2550" b="1" i="0" u="none" dirty="0" smtClean="0">
                <a:solidFill>
                  <a:srgbClr val="F8FAFC"/>
                </a:solidFill>
                <a:latin typeface="Noto Sans KR"/>
              </a:rPr>
              <a:t>기능 요구사항</a:t>
            </a:r>
            <a:endParaRPr lang="ko-KR" altLang="en-US"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78" y="1487684"/>
            <a:ext cx="11022821" cy="507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90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6427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04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26917"/>
            <a:ext cx="11265408" cy="4607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550" b="1" i="0" u="none" dirty="0" smtClean="0">
                <a:solidFill>
                  <a:srgbClr val="F8FAFC"/>
                </a:solidFill>
                <a:latin typeface="Noto Sans KR"/>
              </a:rPr>
              <a:t>6</a:t>
            </a:r>
            <a:r>
              <a:rPr sz="2550" b="1" i="0" u="none" dirty="0" smtClean="0">
                <a:solidFill>
                  <a:srgbClr val="F8FAFC"/>
                </a:solidFill>
                <a:latin typeface="Noto Sans KR"/>
              </a:rPr>
              <a:t>. </a:t>
            </a:r>
            <a:r>
              <a:rPr lang="ko-KR" altLang="en-US" sz="2550" b="1" i="0" u="none" dirty="0" smtClean="0">
                <a:solidFill>
                  <a:srgbClr val="F8FAFC"/>
                </a:solidFill>
                <a:latin typeface="Noto Sans KR"/>
              </a:rPr>
              <a:t>동작 시퀀스</a:t>
            </a:r>
            <a:endParaRPr lang="ko-KR" altLang="en-US"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6"/>
          <a:srcRect l="4539" r="4655"/>
          <a:stretch/>
        </p:blipFill>
        <p:spPr>
          <a:xfrm>
            <a:off x="571500" y="1525177"/>
            <a:ext cx="5524500" cy="497087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8125" y="2056032"/>
            <a:ext cx="5689161" cy="32303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31727" y="6496050"/>
            <a:ext cx="1404045" cy="2226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b="0" i="0" u="none" dirty="0" smtClean="0">
                <a:solidFill>
                  <a:schemeClr val="lt1"/>
                </a:solidFill>
                <a:latin typeface="Noto Sans KR"/>
              </a:rPr>
              <a:t>실 동작 시퀀스</a:t>
            </a:r>
            <a:endParaRPr lang="ko-KR" altLang="en-US" b="0" i="0" u="none" dirty="0">
              <a:solidFill>
                <a:schemeClr val="lt1"/>
              </a:solidFill>
              <a:latin typeface="Noto Sans K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01967" y="5367338"/>
            <a:ext cx="1404045" cy="2226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1200" b="0" i="0" u="none" dirty="0" smtClean="0">
                <a:solidFill>
                  <a:schemeClr val="lt1"/>
                </a:solidFill>
                <a:latin typeface="Noto Sans KR"/>
              </a:rPr>
              <a:t>통합 시퀀스</a:t>
            </a:r>
            <a:endParaRPr lang="ko-KR" altLang="en-US" b="0" i="0" u="none" dirty="0">
              <a:solidFill>
                <a:schemeClr val="lt1"/>
              </a:solidFill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42033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6427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04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26917"/>
            <a:ext cx="11265408" cy="4607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550" b="1" i="0" u="none" dirty="0" smtClean="0">
                <a:solidFill>
                  <a:srgbClr val="F8FAFC"/>
                </a:solidFill>
                <a:latin typeface="Noto Sans KR"/>
              </a:rPr>
              <a:t>7</a:t>
            </a:r>
            <a:r>
              <a:rPr sz="2550" b="1" i="0" u="none" dirty="0" smtClean="0">
                <a:solidFill>
                  <a:srgbClr val="F8FAFC"/>
                </a:solidFill>
                <a:latin typeface="Noto Sans KR"/>
              </a:rPr>
              <a:t>. </a:t>
            </a:r>
            <a:r>
              <a:rPr lang="ko-KR" altLang="en-US" sz="2550" b="1" i="0" u="none" dirty="0" smtClean="0">
                <a:solidFill>
                  <a:srgbClr val="F8FAFC"/>
                </a:solidFill>
                <a:latin typeface="Noto Sans KR"/>
              </a:rPr>
              <a:t>적정 기술 선택</a:t>
            </a:r>
            <a:endParaRPr lang="ko-KR" altLang="en-US"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0573" y="1649002"/>
            <a:ext cx="7770853" cy="483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8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6427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04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26917"/>
            <a:ext cx="11265408" cy="4607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550" b="1" i="0" u="none" dirty="0" smtClean="0">
                <a:solidFill>
                  <a:srgbClr val="F8FAFC"/>
                </a:solidFill>
                <a:latin typeface="Noto Sans KR"/>
              </a:rPr>
              <a:t>8</a:t>
            </a:r>
            <a:r>
              <a:rPr sz="2550" b="1" i="0" u="none" dirty="0" smtClean="0">
                <a:solidFill>
                  <a:srgbClr val="F8FAFC"/>
                </a:solidFill>
                <a:latin typeface="Noto Sans KR"/>
              </a:rPr>
              <a:t>. </a:t>
            </a:r>
            <a:r>
              <a:rPr lang="ko-KR" altLang="en-US" sz="2550" b="1" i="0" u="none" dirty="0" smtClean="0">
                <a:solidFill>
                  <a:srgbClr val="F8FAFC"/>
                </a:solidFill>
                <a:latin typeface="Noto Sans KR"/>
              </a:rPr>
              <a:t>논리 전개 과정</a:t>
            </a:r>
            <a:endParaRPr lang="ko-KR" altLang="en-US"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81" y="2144284"/>
            <a:ext cx="11297700" cy="276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73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" y="-96427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04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09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026917"/>
            <a:ext cx="11265408" cy="4607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550" b="1" i="0" u="none" dirty="0" smtClean="0">
                <a:solidFill>
                  <a:srgbClr val="F8FAFC"/>
                </a:solidFill>
                <a:latin typeface="Noto Sans KR"/>
              </a:rPr>
              <a:t>9</a:t>
            </a:r>
            <a:r>
              <a:rPr sz="2550" b="1" i="0" u="none" dirty="0" smtClean="0">
                <a:solidFill>
                  <a:srgbClr val="F8FAFC"/>
                </a:solidFill>
                <a:latin typeface="Noto Sans KR"/>
              </a:rPr>
              <a:t>. </a:t>
            </a:r>
            <a:r>
              <a:rPr lang="ko-KR" altLang="en-US" sz="2550" b="1" i="0" u="none" dirty="0" smtClean="0">
                <a:solidFill>
                  <a:srgbClr val="F8FAFC"/>
                </a:solidFill>
                <a:latin typeface="Noto Sans KR"/>
              </a:rPr>
              <a:t>진행 과정</a:t>
            </a:r>
            <a:endParaRPr lang="ko-KR" altLang="en-US"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83" y="1992963"/>
            <a:ext cx="10995367" cy="363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05217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95450"/>
            <a:ext cx="5410200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95450"/>
            <a:ext cx="5410200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333625"/>
            <a:ext cx="4933950" cy="304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333625"/>
            <a:ext cx="4933950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9205" y="475488"/>
            <a:ext cx="9881294" cy="1619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 SECTION 05</a:t>
            </a:r>
            <a:r>
              <a:rPr sz="1200" b="0" i="0" u="none">
                <a:solidFill>
                  <a:srgbClr val="F8FAFC"/>
                </a:solidFill>
                <a:latin typeface="Noto Sans KR"/>
              </a:rPr>
              <a:t> </a:t>
            </a:r>
            <a:r>
              <a:rPr sz="1200" b="0" i="0" u="none">
                <a:solidFill>
                  <a:srgbClr val="64748B"/>
                </a:solidFill>
                <a:latin typeface="Noto Sans KR SemiBold"/>
              </a:rPr>
              <a:t>10 /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7715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026917"/>
            <a:ext cx="11265408" cy="46076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ko-KR" sz="2550" b="1" i="0" u="none" dirty="0" smtClean="0">
                <a:solidFill>
                  <a:srgbClr val="F8FAFC"/>
                </a:solidFill>
                <a:latin typeface="Noto Sans KR"/>
              </a:rPr>
              <a:t>10</a:t>
            </a:r>
            <a:r>
              <a:rPr sz="2550" b="1" i="0" u="none" dirty="0" smtClean="0">
                <a:solidFill>
                  <a:srgbClr val="F8FAFC"/>
                </a:solidFill>
                <a:latin typeface="Noto Sans KR"/>
              </a:rPr>
              <a:t>. </a:t>
            </a:r>
            <a:r>
              <a:rPr sz="2550" b="1" i="0" u="none" dirty="0" err="1">
                <a:solidFill>
                  <a:srgbClr val="F8FAFC"/>
                </a:solidFill>
                <a:latin typeface="Noto Sans KR"/>
              </a:rPr>
              <a:t>보완할</a:t>
            </a:r>
            <a:r>
              <a:rPr sz="2550" b="1" i="0" u="none" dirty="0">
                <a:solidFill>
                  <a:srgbClr val="F8FAFC"/>
                </a:solidFill>
                <a:latin typeface="Noto Sans KR"/>
              </a:rPr>
              <a:t> 점 및 </a:t>
            </a:r>
            <a:r>
              <a:rPr sz="2550" b="1" i="0" u="none" dirty="0" err="1">
                <a:solidFill>
                  <a:srgbClr val="F8FAFC"/>
                </a:solidFill>
                <a:latin typeface="Noto Sans KR"/>
              </a:rPr>
              <a:t>향후</a:t>
            </a:r>
            <a:r>
              <a:rPr sz="2550" b="1" i="0" u="none" dirty="0">
                <a:solidFill>
                  <a:srgbClr val="F8FAFC"/>
                </a:solidFill>
                <a:latin typeface="Noto Sans KR"/>
              </a:rPr>
              <a:t> </a:t>
            </a:r>
            <a:r>
              <a:rPr sz="2550" b="1" i="0" u="none" dirty="0" err="1">
                <a:solidFill>
                  <a:srgbClr val="F8FAFC"/>
                </a:solidFill>
                <a:latin typeface="Noto Sans KR"/>
              </a:rPr>
              <a:t>계획</a:t>
            </a:r>
            <a:endParaRPr sz="2550" b="1" i="0" u="none" dirty="0">
              <a:solidFill>
                <a:srgbClr val="F8FAFC"/>
              </a:solidFill>
              <a:latin typeface="Noto Sans KR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104900"/>
            <a:ext cx="202703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85775"/>
            <a:ext cx="122783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3107" y="1943862"/>
            <a:ext cx="4690467" cy="28422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500" b="1" i="0" u="none">
                <a:solidFill>
                  <a:srgbClr val="f87171"/>
                </a:solidFill>
                <a:latin typeface="Noto Sans KR"/>
              </a:rPr>
              <a:t>현재 한계점 </a:t>
            </a:r>
            <a:endParaRPr sz="1500" b="1" i="0" u="none">
              <a:solidFill>
                <a:srgbClr val="f87171"/>
              </a:solidFill>
              <a:latin typeface="Noto Sans K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91906" y="1943862"/>
            <a:ext cx="4690468" cy="28422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lvl="0"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sz="1500" b="1" i="0" u="none">
                <a:solidFill>
                  <a:srgbClr val="10b981"/>
                </a:solidFill>
                <a:latin typeface="Noto Sans KR"/>
              </a:rPr>
              <a:t>최종 발표까지의 향후 계획</a:t>
            </a:r>
            <a:r>
              <a:rPr lang="en-US" altLang="ko-KR" sz="1500" b="1" i="0" u="none">
                <a:solidFill>
                  <a:srgbClr val="10b981"/>
                </a:solidFill>
                <a:latin typeface="Noto Sans KR"/>
              </a:rPr>
              <a:t>(</a:t>
            </a:r>
            <a:r>
              <a:rPr lang="ko-KR" altLang="en-US" sz="1500" b="1" i="0" u="none">
                <a:solidFill>
                  <a:srgbClr val="10b981"/>
                </a:solidFill>
                <a:latin typeface="Noto Sans KR"/>
              </a:rPr>
              <a:t>보완점</a:t>
            </a:r>
            <a:r>
              <a:rPr lang="en-US" altLang="ko-KR" sz="1500" b="1" i="0" u="none">
                <a:solidFill>
                  <a:srgbClr val="10b981"/>
                </a:solidFill>
                <a:latin typeface="Noto Sans KR"/>
              </a:rPr>
              <a:t>)</a:t>
            </a:r>
            <a:endParaRPr lang="en-US" altLang="ko-KR" sz="1500" b="1" i="0" u="none">
              <a:solidFill>
                <a:srgbClr val="10b981"/>
              </a:solidFill>
              <a:latin typeface="Noto Sans KR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1995487"/>
            <a:ext cx="148232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9625" y="2370582"/>
            <a:ext cx="4969371" cy="30674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1.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현재가상 시뮬레이션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(Wokwi)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을 통한 회로 및 제어 논리 검증만 완료된 상태로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,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실제 주행 환경의 물리적 변수가 반영되지  않음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.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</a:t>
            </a:r>
            <a:endParaRPr lang="ko-KR" altLang="en-US" sz="2000" b="0" i="0" u="none">
              <a:solidFill>
                <a:schemeClr val="lt1"/>
              </a:solidFill>
              <a:latin typeface="Noto Sans KR"/>
            </a:endParaRPr>
          </a:p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2.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열폭주 전조 감지 시 배터리를 즉각 투하하는 기존의 방식은 주행 중인 도로 위 후행 차량에게 치명적인 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2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차 피해를 유발할 수 있음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.</a:t>
            </a:r>
            <a:endParaRPr lang="en-US" altLang="ko-KR" sz="2000" b="0" i="0" u="none">
              <a:solidFill>
                <a:schemeClr val="lt1"/>
              </a:solidFill>
              <a:latin typeface="Noto Sans KR"/>
            </a:endParaRPr>
          </a:p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lang="ko-KR" altLang="en-US" sz="2000" b="0" i="0" u="none">
              <a:solidFill>
                <a:schemeClr val="lt1"/>
              </a:solidFill>
              <a:latin typeface="Noto Sans KR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1995487"/>
            <a:ext cx="14823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48425" y="2370582"/>
            <a:ext cx="4933948" cy="237210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1.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실제 아두이노 보드와 센서를 결합한 하드웨어 테스트베드를 구축하여 주행 및 센서 노이즈로 인한 오작동 여부를 교차 검증할 예정임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.</a:t>
            </a:r>
            <a:endParaRPr lang="en-US" altLang="ko-KR" sz="2000" b="0" i="0" u="none">
              <a:solidFill>
                <a:schemeClr val="lt1"/>
              </a:solidFill>
              <a:latin typeface="Noto Sans KR"/>
            </a:endParaRPr>
          </a:p>
          <a:p>
            <a:pPr lvl="0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2.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무조건적인 투하가 아닌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,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‘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예방 및 안전 격리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’</a:t>
            </a:r>
            <a:r>
              <a:rPr lang="ko-KR" altLang="en-US" sz="2000" b="0" i="0" u="none">
                <a:solidFill>
                  <a:schemeClr val="lt1"/>
                </a:solidFill>
                <a:latin typeface="Noto Sans KR"/>
              </a:rPr>
              <a:t> 방향으로시스템을 고도화 시킬 예정임</a:t>
            </a:r>
            <a:r>
              <a:rPr lang="en-US" altLang="ko-KR" sz="2000" b="0" i="0" u="none">
                <a:solidFill>
                  <a:schemeClr val="lt1"/>
                </a:solidFill>
                <a:latin typeface="Noto Sans KR"/>
              </a:rPr>
              <a:t>.</a:t>
            </a:r>
            <a:endParaRPr lang="en-US" altLang="ko-KR" sz="2000" b="0" i="0" u="none">
              <a:solidFill>
                <a:schemeClr val="lt1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826" y="4281487"/>
            <a:ext cx="2394049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84577" y="3024187"/>
            <a:ext cx="2822696" cy="6707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ko-KR" sz="3900" b="0" i="0" u="none">
                <a:solidFill>
                  <a:srgbClr val="FFFFFF"/>
                </a:solidFill>
                <a:latin typeface="Noto Sans KR ExtraBold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1784" y="3738562"/>
            <a:ext cx="2688282" cy="28022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lvl="0" algn="ctr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  <a:defRPr/>
            </a:pPr>
            <a:endParaRPr sz="1500" b="0" i="0" u="none">
              <a:solidFill>
                <a:srgbClr val="94A3B8"/>
              </a:solidFill>
              <a:latin typeface="Noto Sans K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8767" y="2185987"/>
            <a:ext cx="474166" cy="60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716</ep:Words>
  <ep:PresentationFormat>와이드스크린</ep:PresentationFormat>
  <ep:Paragraphs>154</ep:Paragraphs>
  <ep:Slides>17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ep:HeadingPairs>
  <ep: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aaa</dc:creator>
  <dc:description>generated using python-pptx</dc:description>
  <cp:lastModifiedBy>ehdrb</cp:lastModifiedBy>
  <dcterms:modified xsi:type="dcterms:W3CDTF">2026-08-18T10:23:46.133</dcterms:modified>
  <cp:revision>46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